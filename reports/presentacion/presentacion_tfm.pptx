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Portada (10-15 s). Presentarse y dar el titular: predecir la demanda eléctrica anual de la España peninsular con modelos de series temporales y temperatura.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~1 min. Contexto en 3 ideas y objetivos. Mensaje clave: el entregable es la predicción ANUAL, construida desde predicciones mensuales.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~1 min. Dos fuentes abiertas y pipeline reproducible. Señalar en el gráfico la estacionalidad doble (invierno/verano) y el desplome del confinamiento COVID en 2020.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~1,5 min. Solo las conclusiones del EDA que justifican decisiones de modelado: estacionalidad → D=1; COVID/tendencia → d=1; relación en U → HDD/CDD en vez de temperatura cruda. ACF/PACF y tests completos en anexo.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~1,5 min. Punto de rigor metodológico: 4 folds walk-forward con ventana expansiva y horizonte 12 meses; fold 2020 (COVID) se reporta aparte; hold-out 2024-2025 intocable hasta el final. Selección de hiperparámetros una sola vez por AIC.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~1 min. Sin fórmulas: la lógica de cada familia. SARIMAX destacado porque será el ganador. Mencionar honestamente la evaluación ex-post de la temperatura (volverá en limitaciones).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~1,5 min. Leer el gráfico por folds. Dos mensajes: (1) Prophet/ETS ganan en CV, (2) el fold COVID degrada a todos y se reporta aparte. Cerrar con la pregunta que responde la siguiente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~2 min. LA slide estrella. Reentrenados en 2015-2023, predicen los 24 meses de 2024-2025. SARIMAX gana con 1,96 % de MAPE y clava el anual de 2024 (+0,47 %). Señalar en el gráfico cómo la curva naranja sigue a la negra. Honestidad: el ganador de CV (Prophet) queda 4º — por eso hacían falta ambos niveles de validación.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~1 min. Responde una pregunta de investigación explícita. En SARIMA la mejora es −64 % de MAPE; en Prophet, −22 %. El matiz del 2025 cálido demuestra lectura crítica de los propios resultados.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~1,5 min. Cierre fuerte: sé leer mis propios residuos. Ljung-Box rechaza H0 en lag 12 (p=0,003 en train completo y en 3 de 4 folds); la desviación residual (11,8 % de la media) acota la mejora posible. Propuesta concreta de trabajo futuro con los residuos ya exportados (reports/residuos_sarimax.csv).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~45 s. Adelantarse al tribunal: la más importante es la primera (ex-post). Decirla uno mismo resta munición a las preguntas.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~1 min. Cuatro mensajes para llevarse. Cerrar y abrir el turno de preguntas (los anexos siguientes son material de apoyo para responder).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1.png"/><Relationship Id="rId3" Type="http://schemas.openxmlformats.org/officeDocument/2006/relationships/image" Target="../media/image-6-1.png"/><Relationship Id="rId4" Type="http://schemas.openxmlformats.org/officeDocument/2006/relationships/image" Target="../media/image-6-1.png"/><Relationship Id="rId5" Type="http://schemas.openxmlformats.org/officeDocument/2006/relationships/image" Target="../media/image-6-1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1.png"/><Relationship Id="rId3" Type="http://schemas.openxmlformats.org/officeDocument/2006/relationships/image" Target="../media/image-12-1.png"/><Relationship Id="rId4" Type="http://schemas.openxmlformats.org/officeDocument/2006/relationships/image" Target="../media/image-12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2B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-tfm-redata-demanda/dc45b0d4-dbf9-5520-9013-ffe7b0ea8828/scratchpad/icons/bolt_white.png">    </p:cNvPr>
          <p:cNvPicPr>
            <a:picLocks noChangeAspect="1"/>
          </p:cNvPicPr>
          <p:nvPr/>
        </p:nvPicPr>
        <p:blipFill>
          <a:blip r:embed="rId1">
            <a:alphaModFix amt="10000"/>
          </a:blip>
          <a:stretch>
            <a:fillRect/>
          </a:stretch>
        </p:blipFill>
        <p:spPr>
          <a:xfrm>
            <a:off x="8595360" y="822960"/>
            <a:ext cx="4206240" cy="42062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85800" y="1051560"/>
            <a:ext cx="868680" cy="868680"/>
          </a:xfrm>
          <a:prstGeom prst="ellipse">
            <a:avLst/>
          </a:prstGeom>
          <a:solidFill>
            <a:srgbClr val="F2A61D"/>
          </a:solidFill>
          <a:ln/>
        </p:spPr>
      </p:sp>
      <p:pic>
        <p:nvPicPr>
          <p:cNvPr id="4" name="Image 1" descr="/tmp/claude-0/-home-user--tfm-redata-demanda/dc45b0d4-dbf9-5520-9013-ffe7b0ea8828/scratchpad/icons/bolt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657" y="1277417"/>
            <a:ext cx="416966" cy="41696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85800" y="2240280"/>
            <a:ext cx="9692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Predicción de la demanda eléctrica peninsular</a:t>
            </a:r>
            <a:endParaRPr lang="en-US" sz="4000" dirty="0"/>
          </a:p>
        </p:txBody>
      </p:sp>
      <p:sp>
        <p:nvSpPr>
          <p:cNvPr id="6" name="Text 2"/>
          <p:cNvSpPr/>
          <p:nvPr/>
        </p:nvSpPr>
        <p:spPr>
          <a:xfrm>
            <a:off x="685800" y="384048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AFC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de series temporales con variables climáticas · serie mensual REData 2015–2025</a:t>
            </a:r>
            <a:endParaRPr lang="en-US" sz="1700" dirty="0"/>
          </a:p>
        </p:txBody>
      </p:sp>
      <p:sp>
        <p:nvSpPr>
          <p:cNvPr id="7" name="Text 3"/>
          <p:cNvSpPr/>
          <p:nvPr/>
        </p:nvSpPr>
        <p:spPr>
          <a:xfrm>
            <a:off x="685800" y="5074920"/>
            <a:ext cx="9326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A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Fin de Máster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Aitor Duro   ·   Julio 2026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685800" y="61722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FC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Datos: Red Eléctrica de España (API REData) · Open-Meteo ERA5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058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110916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C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Motivación y objetivos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77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importa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621792" cy="621792"/>
          </a:xfrm>
          <a:prstGeom prst="ellipse">
            <a:avLst/>
          </a:prstGeom>
          <a:solidFill>
            <a:srgbClr val="10527E"/>
          </a:solidFill>
          <a:ln/>
        </p:spPr>
      </p:sp>
      <p:pic>
        <p:nvPicPr>
          <p:cNvPr id="6" name="Image 0" descr="/tmp/claude-0/-home-user--tfm-redata-demanda/dc45b0d4-dbf9-5520-9013-ffe7b0ea8828/scratchpad/icons/indust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0306" y="1761866"/>
            <a:ext cx="298460" cy="2984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55448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Operación y planificación del sistema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371600" y="1901952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previsión de demanda dimensiona generación, reservas y red de transporte.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48640" y="2971800"/>
            <a:ext cx="621792" cy="621792"/>
          </a:xfrm>
          <a:prstGeom prst="ellipse">
            <a:avLst/>
          </a:prstGeom>
          <a:solidFill>
            <a:srgbClr val="10527E"/>
          </a:solidFill>
          <a:ln/>
        </p:spPr>
      </p:sp>
      <p:pic>
        <p:nvPicPr>
          <p:cNvPr id="10" name="Image 1" descr="/tmp/claude-0/-home-user--tfm-redata-demanda/dc45b0d4-dbf9-5520-9013-ffe7b0ea8828/scratchpad/icons/chartlin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306" y="3133466"/>
            <a:ext cx="298460" cy="2984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71600" y="292608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Compras y mercado eléctrico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1371600" y="3273552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demanda anual ancla presupuestos, contratos de suministro y coberturas.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548640" y="4343400"/>
            <a:ext cx="621792" cy="621792"/>
          </a:xfrm>
          <a:prstGeom prst="ellipse">
            <a:avLst/>
          </a:prstGeom>
          <a:solidFill>
            <a:srgbClr val="10527E"/>
          </a:solidFill>
          <a:ln/>
        </p:spPr>
      </p:sp>
      <p:pic>
        <p:nvPicPr>
          <p:cNvPr id="14" name="Image 2" descr="/tmp/claude-0/-home-user--tfm-redata-demanda/dc45b0d4-dbf9-5520-9013-ffe7b0ea8828/scratchpad/icons/lea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306" y="4505066"/>
            <a:ext cx="298460" cy="29846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371600" y="429768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Transición energética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1371600" y="4645152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Electrificación y clima están cambiando el patrón de consumo: hace falta medirlo bien.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6263640" y="1051560"/>
            <a:ext cx="5376672" cy="5074920"/>
          </a:xfrm>
          <a:prstGeom prst="roundRect">
            <a:avLst>
              <a:gd name="adj" fmla="val 1441"/>
            </a:avLst>
          </a:prstGeom>
          <a:solidFill>
            <a:srgbClr val="EAF1F7"/>
          </a:solidFill>
          <a:ln w="9525">
            <a:solidFill>
              <a:srgbClr val="CFDCE7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6537960" y="1325880"/>
            <a:ext cx="566928" cy="566928"/>
          </a:xfrm>
          <a:prstGeom prst="ellipse">
            <a:avLst/>
          </a:prstGeom>
          <a:solidFill>
            <a:srgbClr val="F2A61D"/>
          </a:solidFill>
          <a:ln/>
        </p:spPr>
      </p:sp>
      <p:pic>
        <p:nvPicPr>
          <p:cNvPr id="19" name="Image 3" descr="/tmp/claude-0/-home-user--tfm-redata-demanda/dc45b0d4-dbf9-5520-9013-ffe7b0ea8828/scratchpad/icons/bullsey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5361" y="1473281"/>
            <a:ext cx="272125" cy="272125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7269480" y="14173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C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principal</a:t>
            </a:r>
            <a:endParaRPr lang="en-US" sz="1500" dirty="0"/>
          </a:p>
        </p:txBody>
      </p:sp>
      <p:sp>
        <p:nvSpPr>
          <p:cNvPr id="21" name="Text 15"/>
          <p:cNvSpPr/>
          <p:nvPr/>
        </p:nvSpPr>
        <p:spPr>
          <a:xfrm>
            <a:off x="6537960" y="205740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Predecir la demanda eléctrica anual peninsular agregando predicciones mensuales, con un protocolo de evaluación honesto.</a:t>
            </a:r>
            <a:endParaRPr lang="en-US" sz="1350" dirty="0"/>
          </a:p>
        </p:txBody>
      </p:sp>
      <p:sp>
        <p:nvSpPr>
          <p:cNvPr id="22" name="Text 16"/>
          <p:cNvSpPr/>
          <p:nvPr/>
        </p:nvSpPr>
        <p:spPr>
          <a:xfrm>
            <a:off x="6537960" y="315468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C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 específicos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6537960" y="3520440"/>
            <a:ext cx="48463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Comparar 4 familias de modelos: SARIMA/SARIMAX, ETS y Prophet (±exógenas).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Cuantificar el aporte de la temperatura (HDD18 / CDD22).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Diagnosticar los residuos y valorar un híbrido con foundation models.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058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110916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C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y pipeline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5486400" cy="1417320"/>
          </a:xfrm>
          <a:prstGeom prst="roundRect">
            <a:avLst>
              <a:gd name="adj" fmla="val 5161"/>
            </a:avLst>
          </a:prstGeom>
          <a:solidFill>
            <a:srgbClr val="EAF1F7"/>
          </a:solidFill>
          <a:ln w="9525">
            <a:solidFill>
              <a:srgbClr val="CFDCE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234440"/>
            <a:ext cx="566928" cy="566928"/>
          </a:xfrm>
          <a:prstGeom prst="ellipse">
            <a:avLst/>
          </a:prstGeom>
          <a:solidFill>
            <a:srgbClr val="10527E"/>
          </a:solidFill>
          <a:ln/>
        </p:spPr>
      </p:sp>
      <p:pic>
        <p:nvPicPr>
          <p:cNvPr id="6" name="Image 0" descr="/tmp/claude-0/-home-user--tfm-redata-demanda/dc45b0d4-dbf9-5520-9013-ffe7b0ea8828/scratchpad/icons/databa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4641" y="1381841"/>
            <a:ext cx="272125" cy="2721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170432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C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REData (Red Eléctrica de España)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508760" y="1517904"/>
            <a:ext cx="4434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Demanda mensual peninsular · 132 meses (2015-01 → 2025-12) · API pública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172200" y="1005840"/>
            <a:ext cx="5468112" cy="1417320"/>
          </a:xfrm>
          <a:prstGeom prst="roundRect">
            <a:avLst>
              <a:gd name="adj" fmla="val 5161"/>
            </a:avLst>
          </a:prstGeom>
          <a:solidFill>
            <a:srgbClr val="EAF1F7"/>
          </a:solidFill>
          <a:ln w="9525">
            <a:solidFill>
              <a:srgbClr val="CFDCE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400800" y="1234440"/>
            <a:ext cx="566928" cy="566928"/>
          </a:xfrm>
          <a:prstGeom prst="ellipse">
            <a:avLst/>
          </a:prstGeom>
          <a:solidFill>
            <a:srgbClr val="10527E"/>
          </a:solidFill>
          <a:ln/>
        </p:spPr>
      </p:sp>
      <p:pic>
        <p:nvPicPr>
          <p:cNvPr id="11" name="Image 1" descr="/tmp/claude-0/-home-user--tfm-redata-demanda/dc45b0d4-dbf9-5520-9013-ffe7b0ea8828/scratchpad/icons/tem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8201" y="1381841"/>
            <a:ext cx="272125" cy="27212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32320" y="1170432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C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Open-Meteo · reanálisis ERA5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7132320" y="1517904"/>
            <a:ext cx="4434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media diaria en 10 ciudades, ponderada por población → temp media, HDD18, CDD22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48640" y="2697480"/>
            <a:ext cx="338328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0C2B45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548640" y="269748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C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Extracción (API)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4005072" y="2798064"/>
            <a:ext cx="365760" cy="256032"/>
          </a:xfrm>
          <a:prstGeom prst="rightArrow">
            <a:avLst/>
          </a:prstGeom>
          <a:solidFill>
            <a:srgbClr val="F2A61D"/>
          </a:solidFill>
          <a:ln/>
        </p:spPr>
      </p:sp>
      <p:sp>
        <p:nvSpPr>
          <p:cNvPr id="17" name="Shape 13"/>
          <p:cNvSpPr/>
          <p:nvPr/>
        </p:nvSpPr>
        <p:spPr>
          <a:xfrm>
            <a:off x="4434840" y="2697480"/>
            <a:ext cx="338328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0C2B45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4434840" y="269748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C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Ponderación + HDD/CDD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7891272" y="2798064"/>
            <a:ext cx="365760" cy="256032"/>
          </a:xfrm>
          <a:prstGeom prst="rightArrow">
            <a:avLst/>
          </a:prstGeom>
          <a:solidFill>
            <a:srgbClr val="F2A61D"/>
          </a:solidFill>
          <a:ln/>
        </p:spPr>
      </p:sp>
      <p:sp>
        <p:nvSpPr>
          <p:cNvPr id="20" name="Shape 16"/>
          <p:cNvSpPr/>
          <p:nvPr/>
        </p:nvSpPr>
        <p:spPr>
          <a:xfrm>
            <a:off x="8321040" y="2697480"/>
            <a:ext cx="3383280" cy="457200"/>
          </a:xfrm>
          <a:prstGeom prst="roundRect">
            <a:avLst>
              <a:gd name="adj" fmla="val 12000"/>
            </a:avLst>
          </a:prstGeom>
          <a:solidFill>
            <a:srgbClr val="0C2B45"/>
          </a:solidFill>
          <a:ln w="12700">
            <a:solidFill>
              <a:srgbClr val="0C2B45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8321040" y="269748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dataset_mensual.csv · 132 × 4</a:t>
            </a:r>
            <a:endParaRPr lang="en-US" sz="1200" dirty="0"/>
          </a:p>
        </p:txBody>
      </p:sp>
      <p:pic>
        <p:nvPicPr>
          <p:cNvPr id="22" name="Image 2" descr="/tmp/claude-0/-home-user--tfm-redata-demanda/dc45b0d4-dbf9-5520-9013-ffe7b0ea8828/scratchpad/figs/01_fig01_cell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" y="3383280"/>
            <a:ext cx="10332720" cy="32461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058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110916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C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EDA: tres hallazgos que condicionan el modelo</a:t>
            </a:r>
            <a:endParaRPr lang="en-US" sz="2800" dirty="0"/>
          </a:p>
        </p:txBody>
      </p:sp>
      <p:pic>
        <p:nvPicPr>
          <p:cNvPr id="4" name="Image 0" descr="/tmp/claude-0/-home-user--tfm-redata-demanda/dc45b0d4-dbf9-5520-9013-ffe7b0ea8828/scratchpad/figs/01_fig05_cell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005840"/>
            <a:ext cx="11091672" cy="289864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4114800"/>
            <a:ext cx="356616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9525">
            <a:solidFill>
              <a:srgbClr val="CFDCE7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49808" y="4315968"/>
            <a:ext cx="457200" cy="457200"/>
          </a:xfrm>
          <a:prstGeom prst="ellipse">
            <a:avLst/>
          </a:prstGeom>
          <a:solidFill>
            <a:srgbClr val="F2A61D"/>
          </a:solidFill>
          <a:ln/>
        </p:spPr>
      </p:sp>
      <p:sp>
        <p:nvSpPr>
          <p:cNvPr id="7" name="Text 4"/>
          <p:cNvSpPr/>
          <p:nvPr/>
        </p:nvSpPr>
        <p:spPr>
          <a:xfrm>
            <a:off x="749808" y="4315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371600" y="429768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C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Estacionalidad anual fuerte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77240" y="502920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picos al año (invierno y verano); ACF con picos en lag 12, 24, 36.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777240" y="59436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877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= 1, m = 12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311396" y="4114800"/>
            <a:ext cx="356616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9525">
            <a:solidFill>
              <a:srgbClr val="CFDCE7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512564" y="4315968"/>
            <a:ext cx="457200" cy="457200"/>
          </a:xfrm>
          <a:prstGeom prst="ellipse">
            <a:avLst/>
          </a:prstGeom>
          <a:solidFill>
            <a:srgbClr val="F2A61D"/>
          </a:solidFill>
          <a:ln/>
        </p:spPr>
      </p:sp>
      <p:sp>
        <p:nvSpPr>
          <p:cNvPr id="13" name="Text 10"/>
          <p:cNvSpPr/>
          <p:nvPr/>
        </p:nvSpPr>
        <p:spPr>
          <a:xfrm>
            <a:off x="4512564" y="4315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5134356" y="429768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C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Escalón COVID en la tendencia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4539996" y="502920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Caída de nivel en 2020; ADF + KPSS confirman no estacionariedad en niveles.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4539996" y="59436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877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= 1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8074152" y="4114800"/>
            <a:ext cx="356616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9525">
            <a:solidFill>
              <a:srgbClr val="CFDCE7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275320" y="4315968"/>
            <a:ext cx="457200" cy="457200"/>
          </a:xfrm>
          <a:prstGeom prst="ellipse">
            <a:avLst/>
          </a:prstGeom>
          <a:solidFill>
            <a:srgbClr val="F2A61D"/>
          </a:solidFill>
          <a:ln/>
        </p:spPr>
      </p:sp>
      <p:sp>
        <p:nvSpPr>
          <p:cNvPr id="19" name="Text 16"/>
          <p:cNvSpPr/>
          <p:nvPr/>
        </p:nvSpPr>
        <p:spPr>
          <a:xfrm>
            <a:off x="8275320" y="4315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8897112" y="429768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C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Relación en U con la temperatura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8302752" y="502920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Frío y calor disparan la demanda: mejor separar en HDD18 y CDD22 (lineales).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8302752" y="59436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877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exógenas: HDD18, CDD22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058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110916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C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Protocolo de evaluación: CV walk-forward + hold-out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826410" y="102412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2015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2743200" y="1325880"/>
            <a:ext cx="0" cy="3977640"/>
          </a:xfrm>
          <a:prstGeom prst="line">
            <a:avLst/>
          </a:prstGeom>
          <a:noFill/>
          <a:ln w="6350">
            <a:solidFill>
              <a:srgbClr val="CFDCE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32911" y="102412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2016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549701" y="1325880"/>
            <a:ext cx="0" cy="3977640"/>
          </a:xfrm>
          <a:prstGeom prst="line">
            <a:avLst/>
          </a:prstGeom>
          <a:noFill/>
          <a:ln w="6350">
            <a:solidFill>
              <a:srgbClr val="CFDCE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39412" y="102412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2017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356202" y="1325880"/>
            <a:ext cx="0" cy="3977640"/>
          </a:xfrm>
          <a:prstGeom prst="line">
            <a:avLst/>
          </a:prstGeom>
          <a:noFill/>
          <a:ln w="6350">
            <a:solidFill>
              <a:srgbClr val="CFDCE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245913" y="102412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2018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162702" y="1325880"/>
            <a:ext cx="0" cy="3977640"/>
          </a:xfrm>
          <a:prstGeom prst="line">
            <a:avLst/>
          </a:prstGeom>
          <a:noFill/>
          <a:ln w="6350">
            <a:solidFill>
              <a:srgbClr val="CFDCE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052414" y="102412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2019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969203" y="1325880"/>
            <a:ext cx="0" cy="3977640"/>
          </a:xfrm>
          <a:prstGeom prst="line">
            <a:avLst/>
          </a:prstGeom>
          <a:noFill/>
          <a:ln w="6350">
            <a:solidFill>
              <a:srgbClr val="CFDCE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914" y="102412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775704" y="1325880"/>
            <a:ext cx="0" cy="3977640"/>
          </a:xfrm>
          <a:prstGeom prst="line">
            <a:avLst/>
          </a:prstGeom>
          <a:noFill/>
          <a:ln w="6350">
            <a:solidFill>
              <a:srgbClr val="CFDCE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65415" y="102412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7582205" y="1325880"/>
            <a:ext cx="0" cy="3977640"/>
          </a:xfrm>
          <a:prstGeom prst="line">
            <a:avLst/>
          </a:prstGeom>
          <a:noFill/>
          <a:ln w="6350">
            <a:solidFill>
              <a:srgbClr val="CFDCE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71916" y="102412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8388706" y="1325880"/>
            <a:ext cx="0" cy="3977640"/>
          </a:xfrm>
          <a:prstGeom prst="line">
            <a:avLst/>
          </a:prstGeom>
          <a:noFill/>
          <a:ln w="6350">
            <a:solidFill>
              <a:srgbClr val="CFDCE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278417" y="102412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9195206" y="1325880"/>
            <a:ext cx="0" cy="3977640"/>
          </a:xfrm>
          <a:prstGeom prst="line">
            <a:avLst/>
          </a:prstGeom>
          <a:noFill/>
          <a:ln w="6350">
            <a:solidFill>
              <a:srgbClr val="CFDCE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084918" y="102412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10001707" y="1325880"/>
            <a:ext cx="0" cy="3977640"/>
          </a:xfrm>
          <a:prstGeom prst="line">
            <a:avLst/>
          </a:prstGeom>
          <a:noFill/>
          <a:ln w="6350">
            <a:solidFill>
              <a:srgbClr val="CFDCE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891418" y="102412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10808208" y="1325880"/>
            <a:ext cx="0" cy="3977640"/>
          </a:xfrm>
          <a:prstGeom prst="line">
            <a:avLst/>
          </a:prstGeom>
          <a:noFill/>
          <a:ln w="6350">
            <a:solidFill>
              <a:srgbClr val="CFDCE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614709" y="1325880"/>
            <a:ext cx="0" cy="3977640"/>
          </a:xfrm>
          <a:prstGeom prst="line">
            <a:avLst/>
          </a:prstGeom>
          <a:noFill/>
          <a:ln w="6350">
            <a:solidFill>
              <a:srgbClr val="CFDCE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15087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 2020 · COVID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2743200" y="1481328"/>
            <a:ext cx="3995928" cy="365760"/>
          </a:xfrm>
          <a:prstGeom prst="roundRect">
            <a:avLst>
              <a:gd name="adj" fmla="val 12500"/>
            </a:avLst>
          </a:prstGeom>
          <a:solidFill>
            <a:srgbClr val="10527E"/>
          </a:solidFill>
          <a:ln/>
        </p:spPr>
      </p:sp>
      <p:sp>
        <p:nvSpPr>
          <p:cNvPr id="29" name="Shape 27"/>
          <p:cNvSpPr/>
          <p:nvPr/>
        </p:nvSpPr>
        <p:spPr>
          <a:xfrm>
            <a:off x="6775704" y="1481328"/>
            <a:ext cx="769925" cy="365760"/>
          </a:xfrm>
          <a:prstGeom prst="roundRect">
            <a:avLst>
              <a:gd name="adj" fmla="val 12500"/>
            </a:avLst>
          </a:prstGeom>
          <a:solidFill>
            <a:srgbClr val="F2A61D"/>
          </a:solidFill>
          <a:ln/>
        </p:spPr>
      </p:sp>
      <p:sp>
        <p:nvSpPr>
          <p:cNvPr id="30" name="Text 28"/>
          <p:cNvSpPr/>
          <p:nvPr/>
        </p:nvSpPr>
        <p:spPr>
          <a:xfrm>
            <a:off x="548640" y="207568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 2021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2743200" y="2048256"/>
            <a:ext cx="4802429" cy="365760"/>
          </a:xfrm>
          <a:prstGeom prst="roundRect">
            <a:avLst>
              <a:gd name="adj" fmla="val 12500"/>
            </a:avLst>
          </a:prstGeom>
          <a:solidFill>
            <a:srgbClr val="10527E"/>
          </a:solidFill>
          <a:ln/>
        </p:spPr>
      </p:sp>
      <p:sp>
        <p:nvSpPr>
          <p:cNvPr id="32" name="Shape 30"/>
          <p:cNvSpPr/>
          <p:nvPr/>
        </p:nvSpPr>
        <p:spPr>
          <a:xfrm>
            <a:off x="7582205" y="2048256"/>
            <a:ext cx="769925" cy="365760"/>
          </a:xfrm>
          <a:prstGeom prst="roundRect">
            <a:avLst>
              <a:gd name="adj" fmla="val 12500"/>
            </a:avLst>
          </a:prstGeom>
          <a:solidFill>
            <a:srgbClr val="F2A61D"/>
          </a:solidFill>
          <a:ln/>
        </p:spPr>
      </p:sp>
      <p:sp>
        <p:nvSpPr>
          <p:cNvPr id="33" name="Text 31"/>
          <p:cNvSpPr/>
          <p:nvPr/>
        </p:nvSpPr>
        <p:spPr>
          <a:xfrm>
            <a:off x="548640" y="2642616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 2022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2743200" y="2615184"/>
            <a:ext cx="5608930" cy="365760"/>
          </a:xfrm>
          <a:prstGeom prst="roundRect">
            <a:avLst>
              <a:gd name="adj" fmla="val 12500"/>
            </a:avLst>
          </a:prstGeom>
          <a:solidFill>
            <a:srgbClr val="10527E"/>
          </a:solidFill>
          <a:ln/>
        </p:spPr>
      </p:sp>
      <p:sp>
        <p:nvSpPr>
          <p:cNvPr id="35" name="Shape 33"/>
          <p:cNvSpPr/>
          <p:nvPr/>
        </p:nvSpPr>
        <p:spPr>
          <a:xfrm>
            <a:off x="8388706" y="2615184"/>
            <a:ext cx="769925" cy="365760"/>
          </a:xfrm>
          <a:prstGeom prst="roundRect">
            <a:avLst>
              <a:gd name="adj" fmla="val 12500"/>
            </a:avLst>
          </a:prstGeom>
          <a:solidFill>
            <a:srgbClr val="F2A61D"/>
          </a:solidFill>
          <a:ln/>
        </p:spPr>
      </p:sp>
      <p:sp>
        <p:nvSpPr>
          <p:cNvPr id="36" name="Text 34"/>
          <p:cNvSpPr/>
          <p:nvPr/>
        </p:nvSpPr>
        <p:spPr>
          <a:xfrm>
            <a:off x="548640" y="3209544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 2023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2743200" y="3182112"/>
            <a:ext cx="6415430" cy="365760"/>
          </a:xfrm>
          <a:prstGeom prst="roundRect">
            <a:avLst>
              <a:gd name="adj" fmla="val 12500"/>
            </a:avLst>
          </a:prstGeom>
          <a:solidFill>
            <a:srgbClr val="10527E"/>
          </a:solidFill>
          <a:ln/>
        </p:spPr>
      </p:sp>
      <p:sp>
        <p:nvSpPr>
          <p:cNvPr id="38" name="Shape 36"/>
          <p:cNvSpPr/>
          <p:nvPr/>
        </p:nvSpPr>
        <p:spPr>
          <a:xfrm>
            <a:off x="9195206" y="3182112"/>
            <a:ext cx="769925" cy="365760"/>
          </a:xfrm>
          <a:prstGeom prst="roundRect">
            <a:avLst>
              <a:gd name="adj" fmla="val 12500"/>
            </a:avLst>
          </a:prstGeom>
          <a:solidFill>
            <a:srgbClr val="F2A61D"/>
          </a:solidFill>
          <a:ln/>
        </p:spPr>
      </p:sp>
      <p:sp>
        <p:nvSpPr>
          <p:cNvPr id="39" name="Text 37"/>
          <p:cNvSpPr/>
          <p:nvPr/>
        </p:nvSpPr>
        <p:spPr>
          <a:xfrm>
            <a:off x="548640" y="4032504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B547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Hold-out final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2743200" y="4005072"/>
            <a:ext cx="7221931" cy="365760"/>
          </a:xfrm>
          <a:prstGeom prst="roundRect">
            <a:avLst>
              <a:gd name="adj" fmla="val 12500"/>
            </a:avLst>
          </a:prstGeom>
          <a:solidFill>
            <a:srgbClr val="10527E"/>
          </a:solidFill>
          <a:ln/>
        </p:spPr>
      </p:sp>
      <p:sp>
        <p:nvSpPr>
          <p:cNvPr id="41" name="Shape 39"/>
          <p:cNvSpPr/>
          <p:nvPr/>
        </p:nvSpPr>
        <p:spPr>
          <a:xfrm>
            <a:off x="10001707" y="4005072"/>
            <a:ext cx="1576426" cy="365760"/>
          </a:xfrm>
          <a:prstGeom prst="roundRect">
            <a:avLst>
              <a:gd name="adj" fmla="val 12500"/>
            </a:avLst>
          </a:prstGeom>
          <a:solidFill>
            <a:srgbClr val="B54708"/>
          </a:solidFill>
          <a:ln/>
        </p:spPr>
      </p:sp>
      <p:sp>
        <p:nvSpPr>
          <p:cNvPr id="42" name="Shape 40"/>
          <p:cNvSpPr/>
          <p:nvPr/>
        </p:nvSpPr>
        <p:spPr>
          <a:xfrm>
            <a:off x="822960" y="5486400"/>
            <a:ext cx="292608" cy="201168"/>
          </a:xfrm>
          <a:prstGeom prst="roundRect">
            <a:avLst>
              <a:gd name="adj" fmla="val 13636"/>
            </a:avLst>
          </a:prstGeom>
          <a:solidFill>
            <a:srgbClr val="10527E"/>
          </a:solidFill>
          <a:ln/>
        </p:spPr>
      </p:sp>
      <p:sp>
        <p:nvSpPr>
          <p:cNvPr id="43" name="Text 41"/>
          <p:cNvSpPr/>
          <p:nvPr/>
        </p:nvSpPr>
        <p:spPr>
          <a:xfrm>
            <a:off x="1207008" y="5431536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(ventana expansiva)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4617720" y="5486400"/>
            <a:ext cx="292608" cy="201168"/>
          </a:xfrm>
          <a:prstGeom prst="roundRect">
            <a:avLst>
              <a:gd name="adj" fmla="val 13636"/>
            </a:avLst>
          </a:prstGeom>
          <a:solidFill>
            <a:srgbClr val="F2A61D"/>
          </a:solidFill>
          <a:ln/>
        </p:spPr>
      </p:sp>
      <p:sp>
        <p:nvSpPr>
          <p:cNvPr id="45" name="Text 43"/>
          <p:cNvSpPr/>
          <p:nvPr/>
        </p:nvSpPr>
        <p:spPr>
          <a:xfrm>
            <a:off x="5001768" y="5431536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CV · 12 meses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8412480" y="5486400"/>
            <a:ext cx="292608" cy="201168"/>
          </a:xfrm>
          <a:prstGeom prst="roundRect">
            <a:avLst>
              <a:gd name="adj" fmla="val 13636"/>
            </a:avLst>
          </a:prstGeom>
          <a:solidFill>
            <a:srgbClr val="B54708"/>
          </a:solidFill>
          <a:ln/>
        </p:spPr>
      </p:sp>
      <p:sp>
        <p:nvSpPr>
          <p:cNvPr id="47" name="Text 45"/>
          <p:cNvSpPr/>
          <p:nvPr/>
        </p:nvSpPr>
        <p:spPr>
          <a:xfrm>
            <a:off x="8796528" y="5431536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Hold-out · 24 meses, intocable</a:t>
            </a:r>
            <a:endParaRPr lang="en-US" sz="1150" dirty="0"/>
          </a:p>
        </p:txBody>
      </p:sp>
      <p:sp>
        <p:nvSpPr>
          <p:cNvPr id="48" name="Text 46"/>
          <p:cNvSpPr/>
          <p:nvPr/>
        </p:nvSpPr>
        <p:spPr>
          <a:xfrm>
            <a:off x="822960" y="5943600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Hiperparámetros elegidos una sola vez (AIC sobre 2015–2023) y reutilizados en todos los folds — sin fuga de información.  </a:t>
            </a:r>
            <a:pPr indent="0" marL="0">
              <a:buNone/>
            </a:pPr>
            <a:r>
              <a:rPr lang="en-US" sz="1200" b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Métricas: MAPE, RMSE, MAE mensuales + error del agregado anual.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058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110916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C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Cinco configuraciones en competición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2130552" cy="3017520"/>
          </a:xfrm>
          <a:prstGeom prst="roundRect">
            <a:avLst>
              <a:gd name="adj" fmla="val 3433"/>
            </a:avLst>
          </a:prstGeom>
          <a:solidFill>
            <a:srgbClr val="FFFFFF"/>
          </a:solidFill>
          <a:ln w="9525">
            <a:solidFill>
              <a:srgbClr val="CFDCE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30452" y="1417320"/>
            <a:ext cx="566928" cy="566928"/>
          </a:xfrm>
          <a:prstGeom prst="ellipse">
            <a:avLst/>
          </a:prstGeom>
          <a:solidFill>
            <a:srgbClr val="10527E"/>
          </a:solidFill>
          <a:ln/>
        </p:spPr>
      </p:sp>
      <p:pic>
        <p:nvPicPr>
          <p:cNvPr id="6" name="Image 0" descr="/tmp/claude-0/-home-user--tfm-redata-demanda/dc45b0d4-dbf9-5520-9013-ffe7b0ea8828/scratchpad/icons/cog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77853" y="1564721"/>
            <a:ext cx="272125" cy="2721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2103120"/>
            <a:ext cx="1947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C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SARIMA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640080" y="2487168"/>
            <a:ext cx="1947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B877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univariante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40080" y="2880360"/>
            <a:ext cx="1947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(0,1,2) × (1,1,1)₁₂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3703320"/>
            <a:ext cx="1947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 2403,5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2788920" y="1143000"/>
            <a:ext cx="2130552" cy="3017520"/>
          </a:xfrm>
          <a:prstGeom prst="roundRect">
            <a:avLst>
              <a:gd name="adj" fmla="val 3433"/>
            </a:avLst>
          </a:prstGeom>
          <a:solidFill>
            <a:srgbClr val="EAF1F7"/>
          </a:solidFill>
          <a:ln w="9525">
            <a:solidFill>
              <a:srgbClr val="CFDCE7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570732" y="1417320"/>
            <a:ext cx="566928" cy="566928"/>
          </a:xfrm>
          <a:prstGeom prst="ellipse">
            <a:avLst/>
          </a:prstGeom>
          <a:solidFill>
            <a:srgbClr val="F2A61D"/>
          </a:solidFill>
          <a:ln/>
        </p:spPr>
      </p:sp>
      <p:pic>
        <p:nvPicPr>
          <p:cNvPr id="13" name="Image 1" descr="/tmp/claude-0/-home-user--tfm-redata-demanda/dc45b0d4-dbf9-5520-9013-ffe7b0ea8828/scratchpad/icons/cog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8133" y="1564721"/>
            <a:ext cx="272125" cy="272125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880360" y="2103120"/>
            <a:ext cx="1947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C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SARIMAX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2880360" y="2487168"/>
            <a:ext cx="1947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B877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HDD18 / CDD22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2880360" y="2880360"/>
            <a:ext cx="1947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(0,1,2) × (1,1,1)₁₂</a:t>
            </a:r>
            <a:endParaRPr lang="en-US" sz="1150" dirty="0"/>
          </a:p>
        </p:txBody>
      </p:sp>
      <p:sp>
        <p:nvSpPr>
          <p:cNvPr id="17" name="Text 13"/>
          <p:cNvSpPr/>
          <p:nvPr/>
        </p:nvSpPr>
        <p:spPr>
          <a:xfrm>
            <a:off x="2880360" y="3703320"/>
            <a:ext cx="1947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 2345,9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5029200" y="1143000"/>
            <a:ext cx="2130552" cy="3017520"/>
          </a:xfrm>
          <a:prstGeom prst="roundRect">
            <a:avLst>
              <a:gd name="adj" fmla="val 3433"/>
            </a:avLst>
          </a:prstGeom>
          <a:solidFill>
            <a:srgbClr val="FFFFFF"/>
          </a:solidFill>
          <a:ln w="9525">
            <a:solidFill>
              <a:srgbClr val="CFDCE7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5811012" y="1417320"/>
            <a:ext cx="566928" cy="566928"/>
          </a:xfrm>
          <a:prstGeom prst="ellipse">
            <a:avLst/>
          </a:prstGeom>
          <a:solidFill>
            <a:srgbClr val="10527E"/>
          </a:solidFill>
          <a:ln/>
        </p:spPr>
      </p:sp>
      <p:pic>
        <p:nvPicPr>
          <p:cNvPr id="20" name="Image 2" descr="/tmp/claude-0/-home-user--tfm-redata-demanda/dc45b0d4-dbf9-5520-9013-ffe7b0ea8828/scratchpad/icons/cog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8413" y="1564721"/>
            <a:ext cx="272125" cy="272125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5120640" y="2103120"/>
            <a:ext cx="1947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C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ETS</a:t>
            </a:r>
            <a:endParaRPr lang="en-US" sz="1450" dirty="0"/>
          </a:p>
        </p:txBody>
      </p:sp>
      <p:sp>
        <p:nvSpPr>
          <p:cNvPr id="22" name="Text 17"/>
          <p:cNvSpPr/>
          <p:nvPr/>
        </p:nvSpPr>
        <p:spPr>
          <a:xfrm>
            <a:off x="5120640" y="2487168"/>
            <a:ext cx="1947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B877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univariante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5120640" y="2880360"/>
            <a:ext cx="1947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Estacional aditivo,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tendencia</a:t>
            </a:r>
            <a:endParaRPr lang="en-US" sz="1150" dirty="0"/>
          </a:p>
        </p:txBody>
      </p:sp>
      <p:sp>
        <p:nvSpPr>
          <p:cNvPr id="24" name="Text 19"/>
          <p:cNvSpPr/>
          <p:nvPr/>
        </p:nvSpPr>
        <p:spPr>
          <a:xfrm>
            <a:off x="5120640" y="3703320"/>
            <a:ext cx="1947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 2890,8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7269480" y="1143000"/>
            <a:ext cx="2130552" cy="3017520"/>
          </a:xfrm>
          <a:prstGeom prst="roundRect">
            <a:avLst>
              <a:gd name="adj" fmla="val 3433"/>
            </a:avLst>
          </a:prstGeom>
          <a:solidFill>
            <a:srgbClr val="FFFFFF"/>
          </a:solidFill>
          <a:ln w="9525">
            <a:solidFill>
              <a:srgbClr val="CFDCE7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8051292" y="1417320"/>
            <a:ext cx="566928" cy="566928"/>
          </a:xfrm>
          <a:prstGeom prst="ellipse">
            <a:avLst/>
          </a:prstGeom>
          <a:solidFill>
            <a:srgbClr val="10527E"/>
          </a:solidFill>
          <a:ln/>
        </p:spPr>
      </p:sp>
      <p:pic>
        <p:nvPicPr>
          <p:cNvPr id="27" name="Image 3" descr="/tmp/claude-0/-home-user--tfm-redata-demanda/dc45b0d4-dbf9-5520-9013-ffe7b0ea8828/scratchpad/icons/cog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8693" y="1564721"/>
            <a:ext cx="272125" cy="272125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7360920" y="2103120"/>
            <a:ext cx="1947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C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Prophet</a:t>
            </a:r>
            <a:endParaRPr lang="en-US" sz="1450" dirty="0"/>
          </a:p>
        </p:txBody>
      </p:sp>
      <p:sp>
        <p:nvSpPr>
          <p:cNvPr id="29" name="Text 23"/>
          <p:cNvSpPr/>
          <p:nvPr/>
        </p:nvSpPr>
        <p:spPr>
          <a:xfrm>
            <a:off x="7360920" y="2487168"/>
            <a:ext cx="1947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B877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univariante</a:t>
            </a:r>
            <a:endParaRPr lang="en-US" sz="1100" dirty="0"/>
          </a:p>
        </p:txBody>
      </p:sp>
      <p:sp>
        <p:nvSpPr>
          <p:cNvPr id="30" name="Text 24"/>
          <p:cNvSpPr/>
          <p:nvPr/>
        </p:nvSpPr>
        <p:spPr>
          <a:xfrm>
            <a:off x="7360920" y="2880360"/>
            <a:ext cx="1947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Estacionalidad anual,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tendencia por tramos</a:t>
            </a:r>
            <a:endParaRPr lang="en-US" sz="1150" dirty="0"/>
          </a:p>
        </p:txBody>
      </p:sp>
      <p:sp>
        <p:nvSpPr>
          <p:cNvPr id="31" name="Text 25"/>
          <p:cNvSpPr/>
          <p:nvPr/>
        </p:nvSpPr>
        <p:spPr>
          <a:xfrm>
            <a:off x="7360920" y="3703320"/>
            <a:ext cx="1947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config. estándar</a:t>
            </a:r>
            <a:endParaRPr lang="en-US" sz="1100" dirty="0"/>
          </a:p>
        </p:txBody>
      </p:sp>
      <p:sp>
        <p:nvSpPr>
          <p:cNvPr id="32" name="Shape 26"/>
          <p:cNvSpPr/>
          <p:nvPr/>
        </p:nvSpPr>
        <p:spPr>
          <a:xfrm>
            <a:off x="9509760" y="1143000"/>
            <a:ext cx="2130552" cy="3017520"/>
          </a:xfrm>
          <a:prstGeom prst="roundRect">
            <a:avLst>
              <a:gd name="adj" fmla="val 3433"/>
            </a:avLst>
          </a:prstGeom>
          <a:solidFill>
            <a:srgbClr val="FFFFFF"/>
          </a:solidFill>
          <a:ln w="9525">
            <a:solidFill>
              <a:srgbClr val="CFDCE7"/>
            </a:solidFill>
            <a:prstDash val="solid"/>
          </a:ln>
        </p:spPr>
      </p:sp>
      <p:sp>
        <p:nvSpPr>
          <p:cNvPr id="33" name="Shape 27"/>
          <p:cNvSpPr/>
          <p:nvPr/>
        </p:nvSpPr>
        <p:spPr>
          <a:xfrm>
            <a:off x="10291572" y="1417320"/>
            <a:ext cx="566928" cy="566928"/>
          </a:xfrm>
          <a:prstGeom prst="ellipse">
            <a:avLst/>
          </a:prstGeom>
          <a:solidFill>
            <a:srgbClr val="10527E"/>
          </a:solidFill>
          <a:ln/>
        </p:spPr>
      </p:sp>
      <p:pic>
        <p:nvPicPr>
          <p:cNvPr id="34" name="Image 4" descr="/tmp/claude-0/-home-user--tfm-redata-demanda/dc45b0d4-dbf9-5520-9013-ffe7b0ea8828/scratchpad/icons/cog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38973" y="1564721"/>
            <a:ext cx="272125" cy="272125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9601200" y="2103120"/>
            <a:ext cx="1947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C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Prophet + exog</a:t>
            </a:r>
            <a:endParaRPr lang="en-US" sz="1450" dirty="0"/>
          </a:p>
        </p:txBody>
      </p:sp>
      <p:sp>
        <p:nvSpPr>
          <p:cNvPr id="36" name="Text 29"/>
          <p:cNvSpPr/>
          <p:nvPr/>
        </p:nvSpPr>
        <p:spPr>
          <a:xfrm>
            <a:off x="9601200" y="2487168"/>
            <a:ext cx="1947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B877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HDD18 / CDD22</a:t>
            </a:r>
            <a:endParaRPr lang="en-US" sz="1100" dirty="0"/>
          </a:p>
        </p:txBody>
      </p:sp>
      <p:sp>
        <p:nvSpPr>
          <p:cNvPr id="37" name="Text 30"/>
          <p:cNvSpPr/>
          <p:nvPr/>
        </p:nvSpPr>
        <p:spPr>
          <a:xfrm>
            <a:off x="9601200" y="2880360"/>
            <a:ext cx="1947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Regresores externos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adicionales</a:t>
            </a:r>
            <a:endParaRPr lang="en-US" sz="1150" dirty="0"/>
          </a:p>
        </p:txBody>
      </p:sp>
      <p:sp>
        <p:nvSpPr>
          <p:cNvPr id="38" name="Text 31"/>
          <p:cNvSpPr/>
          <p:nvPr/>
        </p:nvSpPr>
        <p:spPr>
          <a:xfrm>
            <a:off x="9601200" y="3703320"/>
            <a:ext cx="1947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config. estándar</a:t>
            </a:r>
            <a:endParaRPr lang="en-US" sz="1100" dirty="0"/>
          </a:p>
        </p:txBody>
      </p:sp>
      <p:sp>
        <p:nvSpPr>
          <p:cNvPr id="39" name="Shape 32"/>
          <p:cNvSpPr/>
          <p:nvPr/>
        </p:nvSpPr>
        <p:spPr>
          <a:xfrm>
            <a:off x="548640" y="4572000"/>
            <a:ext cx="11091672" cy="1600200"/>
          </a:xfrm>
          <a:prstGeom prst="roundRect">
            <a:avLst>
              <a:gd name="adj" fmla="val 4571"/>
            </a:avLst>
          </a:prstGeom>
          <a:solidFill>
            <a:srgbClr val="EAF1F7"/>
          </a:solidFill>
          <a:ln w="9525">
            <a:solidFill>
              <a:srgbClr val="CFDCE7"/>
            </a:solidFill>
            <a:prstDash val="solid"/>
          </a:ln>
        </p:spPr>
      </p:sp>
      <p:sp>
        <p:nvSpPr>
          <p:cNvPr id="40" name="Text 33"/>
          <p:cNvSpPr/>
          <p:nvPr/>
        </p:nvSpPr>
        <p:spPr>
          <a:xfrm>
            <a:off x="822960" y="475488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Selección de órdenes por AIC (grid p,q ∈ 0–2; P,Q ∈ 0–1; d = D = 1 fijados por los tests de estacionariedad), una única vez sobre el train pre-hold-out 2015–2023.</a:t>
            </a:r>
            <a:endParaRPr lang="en-US" sz="1250" dirty="0"/>
          </a:p>
        </p:txBody>
      </p:sp>
      <p:sp>
        <p:nvSpPr>
          <p:cNvPr id="41" name="Text 34"/>
          <p:cNvSpPr/>
          <p:nvPr/>
        </p:nvSpPr>
        <p:spPr>
          <a:xfrm>
            <a:off x="822960" y="54406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los periodos de test se usa la temperatura observada (evaluación ex-post); la predicción operacional requeriría pronóstico climático.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058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110916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C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Cross-validation: los flexibles lideran… con matices</a:t>
            </a:r>
            <a:endParaRPr lang="en-US" sz="2800" dirty="0"/>
          </a:p>
        </p:txBody>
      </p:sp>
      <p:pic>
        <p:nvPicPr>
          <p:cNvPr id="4" name="Image 0" descr="/tmp/claude-0/-home-user--tfm-redata-demanda/dc45b0d4-dbf9-5520-9013-ffe7b0ea8828/scratchpad/figs/02_fig02_cell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097280"/>
            <a:ext cx="6812280" cy="26974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4023360"/>
            <a:ext cx="6812280" cy="1371600"/>
          </a:xfrm>
          <a:prstGeom prst="roundRect">
            <a:avLst>
              <a:gd name="adj" fmla="val 5333"/>
            </a:avLst>
          </a:prstGeom>
          <a:solidFill>
            <a:srgbClr val="EAF1F7"/>
          </a:solidFill>
          <a:ln w="9525">
            <a:solidFill>
              <a:srgbClr val="CFDCE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22960" y="4206240"/>
            <a:ext cx="6309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C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 2020 (COVID), reportado aparte: </a:t>
            </a:r>
            <a:pPr indent="0" marL="0">
              <a:buNone/>
            </a:pPr>
            <a:r>
              <a:rPr lang="en-US" sz="1250" dirty="0">
                <a:solidFill>
                  <a:srgbClr val="1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los modelos se degradan (MAPE 5,0–6,6 %). El más robusto al shock fue SARIMA (4,97 %).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7635240" y="10972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C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 medio · folds 2021–2023 (sin COVID)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7635240" y="1572768"/>
            <a:ext cx="4023360" cy="475488"/>
          </a:xfrm>
          <a:prstGeom prst="roundRect">
            <a:avLst>
              <a:gd name="adj" fmla="val 9615"/>
            </a:avLst>
          </a:prstGeom>
          <a:solidFill>
            <a:srgbClr val="EAF1F7"/>
          </a:solidFill>
          <a:ln w="9525">
            <a:solidFill>
              <a:srgbClr val="CFDCE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863840" y="1572768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Prophet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10149840" y="1572768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B877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2,88 %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7635240" y="2139696"/>
            <a:ext cx="4023360" cy="475488"/>
          </a:xfrm>
          <a:prstGeom prst="roundRect">
            <a:avLst>
              <a:gd name="adj" fmla="val 9615"/>
            </a:avLst>
          </a:prstGeom>
          <a:solidFill>
            <a:srgbClr val="EAF1F7"/>
          </a:solidFill>
          <a:ln w="9525">
            <a:solidFill>
              <a:srgbClr val="CFDCE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863840" y="2139696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ETS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10149840" y="2139696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B877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2,90 %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7635240" y="2706624"/>
            <a:ext cx="4023360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9525">
            <a:solidFill>
              <a:srgbClr val="CFDCE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863840" y="2706624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Prophet + exog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10149840" y="2706624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3,51 %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7635240" y="3273552"/>
            <a:ext cx="4023360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9525">
            <a:solidFill>
              <a:srgbClr val="CFDCE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863840" y="3273552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SARIMAX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10149840" y="3273552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4,38 %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7635240" y="3840480"/>
            <a:ext cx="4023360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9525">
            <a:solidFill>
              <a:srgbClr val="CFDCE7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863840" y="3840480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SARIMA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10149840" y="3840480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4,46 %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7635240" y="448056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del agregado anual: 0,2–5 % según fold y modelo.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548640" y="5715000"/>
            <a:ext cx="11091672" cy="685800"/>
          </a:xfrm>
          <a:prstGeom prst="roundRect">
            <a:avLst>
              <a:gd name="adj" fmla="val 10667"/>
            </a:avLst>
          </a:prstGeom>
          <a:solidFill>
            <a:srgbClr val="0C2B45"/>
          </a:solidFill>
          <a:ln/>
        </p:spPr>
      </p:sp>
      <p:sp>
        <p:nvSpPr>
          <p:cNvPr id="25" name="Text 22"/>
          <p:cNvSpPr/>
          <p:nvPr/>
        </p:nvSpPr>
        <p:spPr>
          <a:xfrm>
            <a:off x="868680" y="571500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CV mandan Prophet y ETS; las exógenas no aportan de forma consistente. La pregunta es si eso aguanta fuera de muestra.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058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110916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C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Hold-out 2024–2025: SARIMAX da la vuelta al ranking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115568"/>
            <a:ext cx="640080" cy="640080"/>
          </a:xfrm>
          <a:prstGeom prst="ellipse">
            <a:avLst/>
          </a:prstGeom>
          <a:solidFill>
            <a:srgbClr val="F2A61D"/>
          </a:solidFill>
          <a:ln/>
        </p:spPr>
      </p:sp>
      <p:pic>
        <p:nvPicPr>
          <p:cNvPr id="5" name="Image 0" descr="/tmp/claude-0/-home-user--tfm-redata-demanda/dc45b0d4-dbf9-5520-9013-ffe7b0ea8828/scratchpad/icons/troph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5061" y="1281989"/>
            <a:ext cx="307238" cy="30723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96012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B877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1,96 %</a:t>
            </a:r>
            <a:pPr indent="0" marL="0">
              <a:buNone/>
            </a:pPr>
            <a:r>
              <a:rPr lang="en-US" sz="14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MAPE mensual · SARIMAX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1417320" y="18288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C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anual:  </a:t>
            </a:r>
            <a:pPr indent="0" marL="0">
              <a:buNone/>
            </a:pPr>
            <a:r>
              <a:rPr lang="en-US" sz="1350" dirty="0">
                <a:solidFill>
                  <a:srgbClr val="1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+0,47 % (2024) · +2,03 % (2025)</a:t>
            </a:r>
            <a:endParaRPr lang="en-US" sz="13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0" y="1051560"/>
          <a:ext cx="4800600" cy="1005840"/>
        </p:xfrm>
        <a:graphic>
          <a:graphicData uri="http://schemas.openxmlformats.org/drawingml/2006/table">
            <a:tbl>
              <a:tblPr/>
              <a:tblGrid>
                <a:gridCol w="1143000"/>
                <a:gridCol w="868680"/>
                <a:gridCol w="1143000"/>
                <a:gridCol w="868680"/>
                <a:gridCol w="77724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C2B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SARIMAX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E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E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Prophet+exog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E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Prophet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E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SARIMA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B8770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1,96 %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5A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2,33 %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5A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3,65 %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5A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4,67 %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5A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5,43 %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6858000" y="2084832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 mensual en el hold-out (24 meses)</a:t>
            </a:r>
            <a:endParaRPr lang="en-US" sz="1050" dirty="0"/>
          </a:p>
        </p:txBody>
      </p:sp>
      <p:pic>
        <p:nvPicPr>
          <p:cNvPr id="10" name="Image 1" descr="/tmp/claude-0/-home-user--tfm-redata-demanda/dc45b0d4-dbf9-5520-9013-ffe7b0ea8828/scratchpad/figs/02_fig03_cell15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514600"/>
            <a:ext cx="10835640" cy="356616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85800" y="617220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C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orden de la CV se invierte fuera de muestra: con 24 meses de horizonte, la señal térmica (HDD/CDD) marca la diferencia.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058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110916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C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¿Aporta la temperatura? Sí — y decide el podio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55778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CFDCE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371600"/>
            <a:ext cx="1691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SARIMA
</a:t>
            </a:r>
            <a:pPr algn="ctr" indent="0" marL="0">
              <a:buNone/>
            </a:pPr>
            <a:r>
              <a:rPr lang="en-US" sz="2200" b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5,43 %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560320" y="1691640"/>
            <a:ext cx="502920" cy="365760"/>
          </a:xfrm>
          <a:prstGeom prst="rightArrow">
            <a:avLst/>
          </a:prstGeom>
          <a:solidFill>
            <a:srgbClr val="F2A61D"/>
          </a:solidFill>
          <a:ln/>
        </p:spPr>
      </p:sp>
      <p:sp>
        <p:nvSpPr>
          <p:cNvPr id="7" name="Text 5"/>
          <p:cNvSpPr/>
          <p:nvPr/>
        </p:nvSpPr>
        <p:spPr>
          <a:xfrm>
            <a:off x="3154680" y="1371600"/>
            <a:ext cx="1783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C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SARIMAX
</a:t>
            </a:r>
            <a:pPr algn="ctr" indent="0" marL="0">
              <a:buNone/>
            </a:pPr>
            <a:r>
              <a:rPr lang="en-US" sz="2200" b="1" dirty="0">
                <a:solidFill>
                  <a:srgbClr val="B877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1,96 %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892040" y="1508760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C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−3,5 pp
</a:t>
            </a:r>
            <a:pPr algn="ctr" indent="0" marL="0">
              <a:buNone/>
            </a:pPr>
            <a:r>
              <a:rPr lang="en-US" sz="11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(−64 %)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788920"/>
            <a:ext cx="55778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CFDCE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971800"/>
            <a:ext cx="1691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Prophet
</a:t>
            </a:r>
            <a:pPr algn="ctr" indent="0" marL="0">
              <a:buNone/>
            </a:pPr>
            <a:r>
              <a:rPr lang="en-US" sz="2200" b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4,67 %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560320" y="3291840"/>
            <a:ext cx="502920" cy="365760"/>
          </a:xfrm>
          <a:prstGeom prst="rightArrow">
            <a:avLst/>
          </a:prstGeom>
          <a:solidFill>
            <a:srgbClr val="F2A61D"/>
          </a:solidFill>
          <a:ln/>
        </p:spPr>
      </p:sp>
      <p:sp>
        <p:nvSpPr>
          <p:cNvPr id="12" name="Text 10"/>
          <p:cNvSpPr/>
          <p:nvPr/>
        </p:nvSpPr>
        <p:spPr>
          <a:xfrm>
            <a:off x="3154680" y="2971800"/>
            <a:ext cx="1783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C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Prophet + exog
</a:t>
            </a:r>
            <a:pPr algn="ctr" indent="0" marL="0">
              <a:buNone/>
            </a:pPr>
            <a:r>
              <a:rPr lang="en-US" sz="2200" b="1" dirty="0">
                <a:solidFill>
                  <a:srgbClr val="B877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3,65 %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92040" y="3108960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C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−1,0 pp
</a:t>
            </a:r>
            <a:pPr algn="ctr" indent="0" marL="0">
              <a:buNone/>
            </a:pPr>
            <a:r>
              <a:rPr lang="en-US" sz="11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(−22 %)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443484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 mensual en el hold-out 2024–2025</a:t>
            </a:r>
            <a:endParaRPr lang="en-US" sz="1050" dirty="0"/>
          </a:p>
        </p:txBody>
      </p:sp>
      <p:pic>
        <p:nvPicPr>
          <p:cNvPr id="15" name="Image 0" descr="/tmp/claude-0/-home-user--tfm-redata-demanda/dc45b0d4-dbf9-5520-9013-ffe7b0ea8828/scratchpad/figs/02_fig04_cell1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5080" y="1188720"/>
            <a:ext cx="5349240" cy="2615184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6355080" y="384048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Agregado anual — la entrega del TFM. SARIMAX es el más cercano al real en 2024 y 2025.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548640" y="4983480"/>
            <a:ext cx="11091672" cy="1371600"/>
          </a:xfrm>
          <a:prstGeom prst="roundRect">
            <a:avLst>
              <a:gd name="adj" fmla="val 5333"/>
            </a:avLst>
          </a:prstGeom>
          <a:solidFill>
            <a:srgbClr val="EAF1F7"/>
          </a:solidFill>
          <a:ln w="9525">
            <a:solidFill>
              <a:srgbClr val="CFDCE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516636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C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Matiz: </a:t>
            </a:r>
            <a:pPr indent="0" marL="0">
              <a:buNone/>
            </a:pPr>
            <a:r>
              <a:rPr lang="en-US" sz="1250" dirty="0">
                <a:solidFill>
                  <a:srgbClr val="1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CV el aporte de las exógenas es irregular (Prophet+exog llega a empeorar en 2021–2022). La ganancia emerge en el hold-out, con un 2025 especialmente cálido (CDD anual récord: 501 vs ~340 histórico).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058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110916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C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de residuos y línea futura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C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Ljung-Box sobre residuos del SARIMAX (H₀: sin autocorrelación)</a:t>
            </a:r>
            <a:endParaRPr lang="en-US" sz="13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585216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1097280"/>
                <a:gridCol w="1051560"/>
                <a:gridCol w="105156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Configuración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B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lag 12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B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lag 24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B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lag 36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B4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2E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 completo 2015–2023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B8770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0,003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E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0,16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E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0,66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2E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Folds CV 2020–2022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B8770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0,01–0,03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E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 0,24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E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 0,65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2E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Fold 2019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E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E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0,66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E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3291840"/>
            <a:ext cx="58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877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&lt; 0,05 en lag 12 </a:t>
            </a:r>
            <a:pPr indent="0" marL="0">
              <a:buNone/>
            </a:pPr>
            <a:r>
              <a:rPr lang="en-US" sz="1250" dirty="0">
                <a:solidFill>
                  <a:srgbClr val="1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forma sistemática: queda estructura anual sin capturar.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548640" y="3794760"/>
            <a:ext cx="5852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C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 residual = 2,54 M MWh </a:t>
            </a:r>
            <a:pPr indent="0" marL="0">
              <a:buNone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(11,8 % de la demanda media) — techo teórico de mejora para un corrector.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858000" y="105156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C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Siguiente paso: híbrido con foundation models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858000" y="1572768"/>
            <a:ext cx="48006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9525">
            <a:solidFill>
              <a:srgbClr val="CFDCE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086600" y="1645920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C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SARIMAX
</a:t>
            </a:r>
            <a:pPr indent="0" marL="0">
              <a:buNone/>
            </a:pPr>
            <a:r>
              <a:rPr lang="en-US" sz="11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predicción base 2024–2025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9098280" y="2331720"/>
            <a:ext cx="274320" cy="219456"/>
          </a:xfrm>
          <a:prstGeom prst="downArrow">
            <a:avLst/>
          </a:prstGeom>
          <a:solidFill>
            <a:srgbClr val="F2A61D"/>
          </a:solidFill>
          <a:ln/>
        </p:spPr>
      </p:sp>
      <p:sp>
        <p:nvSpPr>
          <p:cNvPr id="12" name="Shape 9"/>
          <p:cNvSpPr/>
          <p:nvPr/>
        </p:nvSpPr>
        <p:spPr>
          <a:xfrm>
            <a:off x="6858000" y="2532888"/>
            <a:ext cx="48006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9525">
            <a:solidFill>
              <a:srgbClr val="CFDCE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086600" y="2606040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C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Chronos / TimesFM
</a:t>
            </a:r>
            <a:pPr indent="0" marL="0">
              <a:buNone/>
            </a:pPr>
            <a:r>
              <a:rPr lang="en-US" sz="11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aprende la serie de residuos in-sample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9098280" y="3291840"/>
            <a:ext cx="274320" cy="219456"/>
          </a:xfrm>
          <a:prstGeom prst="downArrow">
            <a:avLst/>
          </a:prstGeom>
          <a:solidFill>
            <a:srgbClr val="F2A61D"/>
          </a:solidFill>
          <a:ln/>
        </p:spPr>
      </p:sp>
      <p:sp>
        <p:nvSpPr>
          <p:cNvPr id="15" name="Shape 12"/>
          <p:cNvSpPr/>
          <p:nvPr/>
        </p:nvSpPr>
        <p:spPr>
          <a:xfrm>
            <a:off x="6858000" y="3493008"/>
            <a:ext cx="4800600" cy="777240"/>
          </a:xfrm>
          <a:prstGeom prst="roundRect">
            <a:avLst>
              <a:gd name="adj" fmla="val 9412"/>
            </a:avLst>
          </a:prstGeom>
          <a:solidFill>
            <a:srgbClr val="EAF1F7"/>
          </a:solidFill>
          <a:ln w="9525">
            <a:solidFill>
              <a:srgbClr val="CFDCE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086600" y="3566160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C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Combinación
</a:t>
            </a:r>
            <a:pPr indent="0" marL="0">
              <a:buNone/>
            </a:pPr>
            <a:r>
              <a:rPr lang="en-US" sz="11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+ corrector vs MAPE 1,96 %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10972800" y="2606040"/>
            <a:ext cx="566928" cy="566928"/>
          </a:xfrm>
          <a:prstGeom prst="ellipse">
            <a:avLst/>
          </a:prstGeom>
          <a:solidFill>
            <a:srgbClr val="10527E"/>
          </a:solidFill>
          <a:ln/>
        </p:spPr>
      </p:sp>
      <p:pic>
        <p:nvPicPr>
          <p:cNvPr id="18" name="Image 0" descr="/tmp/claude-0/-home-user--tfm-redata-demanda/dc45b0d4-dbf9-5520-9013-ffe7b0ea8828/scratchpad/icons/robo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20201" y="2753441"/>
            <a:ext cx="272125" cy="272125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548640" y="4892040"/>
            <a:ext cx="11091672" cy="1417320"/>
          </a:xfrm>
          <a:prstGeom prst="roundRect">
            <a:avLst>
              <a:gd name="adj" fmla="val 5161"/>
            </a:avLst>
          </a:prstGeom>
          <a:solidFill>
            <a:srgbClr val="0C2B45"/>
          </a:solidFill>
          <a:ln/>
        </p:spPr>
      </p:sp>
      <p:sp>
        <p:nvSpPr>
          <p:cNvPr id="20" name="Shape 16"/>
          <p:cNvSpPr/>
          <p:nvPr/>
        </p:nvSpPr>
        <p:spPr>
          <a:xfrm>
            <a:off x="868680" y="5257800"/>
            <a:ext cx="658368" cy="658368"/>
          </a:xfrm>
          <a:prstGeom prst="ellipse">
            <a:avLst/>
          </a:prstGeom>
          <a:solidFill>
            <a:srgbClr val="F2A61D"/>
          </a:solidFill>
          <a:ln/>
        </p:spPr>
      </p:sp>
      <p:pic>
        <p:nvPicPr>
          <p:cNvPr id="21" name="Image 1" descr="/tmp/claude-0/-home-user--tfm-redata-demanda/dc45b0d4-dbf9-5520-9013-ffe7b0ea8828/scratchpad/icons/wav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9856" y="5428976"/>
            <a:ext cx="316017" cy="316017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783080" y="5074920"/>
            <a:ext cx="9601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A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Veredicto: 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hay estructura autocorrelada aprovechable en los residuos. El híbrido SARIMAX + foundation model está justificado estadísticamente, no por moda.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058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110916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C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Limitaciones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11091672" cy="1463040"/>
          </a:xfrm>
          <a:prstGeom prst="roundRect">
            <a:avLst>
              <a:gd name="adj" fmla="val 5000"/>
            </a:avLst>
          </a:prstGeom>
          <a:solidFill>
            <a:srgbClr val="EAF1F7"/>
          </a:solidFill>
          <a:ln w="9525">
            <a:solidFill>
              <a:srgbClr val="CFDCE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664208"/>
            <a:ext cx="685800" cy="685800"/>
          </a:xfrm>
          <a:prstGeom prst="ellipse">
            <a:avLst/>
          </a:prstGeom>
          <a:solidFill>
            <a:srgbClr val="10527E"/>
          </a:solidFill>
          <a:ln/>
        </p:spPr>
      </p:sp>
      <p:pic>
        <p:nvPicPr>
          <p:cNvPr id="6" name="Image 0" descr="/tmp/claude-0/-home-user--tfm-redata-demanda/dc45b0d4-dbf9-5520-9013-ffe7b0ea8828/scratchpad/icons/cloudsu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6988" y="1842516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1481328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C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Temperatura observada en los periodos de test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1828800" y="1901952"/>
            <a:ext cx="9509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evaluación es ex-post: en producción haría falta un pronóstico climático, que añade su propio error a los 12–24 meses de horizonte.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48640" y="2971800"/>
            <a:ext cx="11091672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FDCE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68680" y="3355848"/>
            <a:ext cx="685800" cy="685800"/>
          </a:xfrm>
          <a:prstGeom prst="ellipse">
            <a:avLst/>
          </a:prstGeom>
          <a:solidFill>
            <a:srgbClr val="10527E"/>
          </a:solidFill>
          <a:ln/>
        </p:spPr>
      </p:sp>
      <p:pic>
        <p:nvPicPr>
          <p:cNvPr id="11" name="Image 1" descr="/tmp/claude-0/-home-user--tfm-redata-demanda/dc45b0d4-dbf9-5520-9013-ffe7b0ea8828/scratchpad/icons/hourglas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988" y="3534156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172968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C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Histórico modesto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1828800" y="3593592"/>
            <a:ext cx="9509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años mensuales (n = 132) limitan la estimación de tendencias largas y dejan un único shock (COVID) para estudiar robustez.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48640" y="4663440"/>
            <a:ext cx="11091672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FDCE7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68680" y="5047488"/>
            <a:ext cx="685800" cy="685800"/>
          </a:xfrm>
          <a:prstGeom prst="ellipse">
            <a:avLst/>
          </a:prstGeom>
          <a:solidFill>
            <a:srgbClr val="10527E"/>
          </a:solidFill>
          <a:ln/>
        </p:spPr>
      </p:sp>
      <p:pic>
        <p:nvPicPr>
          <p:cNvPr id="16" name="Image 2" descr="/tmp/claude-0/-home-user--tfm-redata-demanda/dc45b0d4-dbf9-5520-9013-ffe7b0ea8828/scratchpad/icons/caltime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988" y="5225796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864608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C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calendario laboral ni actividad económica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1828800" y="5285232"/>
            <a:ext cx="9509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Días hábiles, festivos o IPI podrían reducir el error mensual; quedan fuera del alcance de este trabajo.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C2B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058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FC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110916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143000"/>
            <a:ext cx="502920" cy="502920"/>
          </a:xfrm>
          <a:prstGeom prst="ellipse">
            <a:avLst/>
          </a:prstGeom>
          <a:solidFill>
            <a:srgbClr val="F2A61D"/>
          </a:solidFill>
          <a:ln/>
        </p:spPr>
      </p:sp>
      <p:pic>
        <p:nvPicPr>
          <p:cNvPr id="5" name="Image 0" descr="/tmp/claude-0/-home-user--tfm-redata-demanda/dc45b0d4-dbf9-5520-9013-ffe7b0ea8828/scratchpad/icons/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0839" y="1273759"/>
            <a:ext cx="241402" cy="24140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1088136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SARIMAX (0,1,2)×(1,1,1)₁₂ + HDD18/CDD22 gana el hold-out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1371600" y="1490472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FC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 mensual 1,96 % y error anual +0,47 % (2024) / +2,03 % (2025).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40080" y="2176272"/>
            <a:ext cx="502920" cy="502920"/>
          </a:xfrm>
          <a:prstGeom prst="ellipse">
            <a:avLst/>
          </a:prstGeom>
          <a:solidFill>
            <a:srgbClr val="F2A61D"/>
          </a:solidFill>
          <a:ln/>
        </p:spPr>
      </p:sp>
      <p:pic>
        <p:nvPicPr>
          <p:cNvPr id="9" name="Image 1" descr="/tmp/claude-0/-home-user--tfm-redata-demanda/dc45b0d4-dbf9-5520-9013-ffe7b0ea8828/scratchpad/icons/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0839" y="2307031"/>
            <a:ext cx="241402" cy="24140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71600" y="2121408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temperatura es la variable que decide</a:t>
            </a:r>
            <a:endParaRPr lang="en-US" sz="1550" dirty="0"/>
          </a:p>
        </p:txBody>
      </p:sp>
      <p:sp>
        <p:nvSpPr>
          <p:cNvPr id="11" name="Text 7"/>
          <p:cNvSpPr/>
          <p:nvPr/>
        </p:nvSpPr>
        <p:spPr>
          <a:xfrm>
            <a:off x="1371600" y="2523744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FC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el MAPE del SARIMA un 64 %; también mejora Prophet (−22 %).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640080" y="3209544"/>
            <a:ext cx="502920" cy="502920"/>
          </a:xfrm>
          <a:prstGeom prst="ellipse">
            <a:avLst/>
          </a:prstGeom>
          <a:solidFill>
            <a:srgbClr val="F2A61D"/>
          </a:solidFill>
          <a:ln/>
        </p:spPr>
      </p:sp>
      <p:pic>
        <p:nvPicPr>
          <p:cNvPr id="13" name="Image 2" descr="/tmp/claude-0/-home-user--tfm-redata-demanda/dc45b0d4-dbf9-5520-9013-ffe7b0ea8828/scratchpad/icons/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3340303"/>
            <a:ext cx="241402" cy="24140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71600" y="3154680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doble nivel de validación evitó una conclusión equivocada</a:t>
            </a:r>
            <a:endParaRPr lang="en-US" sz="1550" dirty="0"/>
          </a:p>
        </p:txBody>
      </p:sp>
      <p:sp>
        <p:nvSpPr>
          <p:cNvPr id="15" name="Text 10"/>
          <p:cNvSpPr/>
          <p:nvPr/>
        </p:nvSpPr>
        <p:spPr>
          <a:xfrm>
            <a:off x="1371600" y="3557016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FC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ganador de la CV (Prophet) cae al 4º puesto fuera de muestra.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640080" y="4242816"/>
            <a:ext cx="502920" cy="502920"/>
          </a:xfrm>
          <a:prstGeom prst="ellipse">
            <a:avLst/>
          </a:prstGeom>
          <a:solidFill>
            <a:srgbClr val="F2A61D"/>
          </a:solidFill>
          <a:ln/>
        </p:spPr>
      </p:sp>
      <p:pic>
        <p:nvPicPr>
          <p:cNvPr id="17" name="Image 3" descr="/tmp/claude-0/-home-user--tfm-redata-demanda/dc45b0d4-dbf9-5520-9013-ffe7b0ea8828/scratchpad/icons/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0839" y="4373575"/>
            <a:ext cx="241402" cy="24140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371600" y="4187952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residuos justifican el siguiente paso</a:t>
            </a:r>
            <a:endParaRPr lang="en-US" sz="1550" dirty="0"/>
          </a:p>
        </p:txBody>
      </p:sp>
      <p:sp>
        <p:nvSpPr>
          <p:cNvPr id="19" name="Text 13"/>
          <p:cNvSpPr/>
          <p:nvPr/>
        </p:nvSpPr>
        <p:spPr>
          <a:xfrm>
            <a:off x="1371600" y="4590288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FC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Ljung-Box significativo en lag 12 → híbrido SARIMAX + Chronos/TimesFM.</a:t>
            </a:r>
            <a:endParaRPr lang="en-US" sz="1250" dirty="0"/>
          </a:p>
        </p:txBody>
      </p:sp>
      <p:sp>
        <p:nvSpPr>
          <p:cNvPr id="20" name="Shape 14"/>
          <p:cNvSpPr/>
          <p:nvPr/>
        </p:nvSpPr>
        <p:spPr>
          <a:xfrm>
            <a:off x="640080" y="5486400"/>
            <a:ext cx="10881360" cy="0"/>
          </a:xfrm>
          <a:prstGeom prst="line">
            <a:avLst/>
          </a:prstGeom>
          <a:noFill/>
          <a:ln w="12700">
            <a:solidFill>
              <a:srgbClr val="10527E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640080" y="57150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Gracias — </a:t>
            </a:r>
            <a:pPr indent="0" marL="0">
              <a:buNone/>
            </a:pPr>
            <a:r>
              <a:rPr lang="en-US" sz="2400" b="1" dirty="0">
                <a:solidFill>
                  <a:srgbClr val="F2A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¿preguntas?</a:t>
            </a:r>
            <a:endParaRPr lang="en-US" sz="2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058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110916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C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Selección de hiperparámetros (AIC)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591495" y="347472"/>
            <a:ext cx="1051560" cy="384048"/>
          </a:xfrm>
          <a:prstGeom prst="roundRect">
            <a:avLst>
              <a:gd name="adj" fmla="val 19048"/>
            </a:avLst>
          </a:prstGeom>
          <a:solidFill>
            <a:srgbClr val="0C2B45"/>
          </a:solidFill>
          <a:ln/>
        </p:spPr>
      </p:sp>
      <p:sp>
        <p:nvSpPr>
          <p:cNvPr id="5" name="Text 3"/>
          <p:cNvSpPr/>
          <p:nvPr/>
        </p:nvSpPr>
        <p:spPr>
          <a:xfrm>
            <a:off x="10591495" y="347472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ANEXO</a:t>
            </a:r>
            <a:endParaRPr lang="en-US" sz="11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11091672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4754880"/>
                <a:gridCol w="3566160"/>
                <a:gridCol w="1124712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B4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Espacio de búsqueda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B4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Configuración elegida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B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B4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A2E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SARIMA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E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p,q ∈ {0,1,2} · P,Q ∈ {0,1} · d = D = 1, m = 12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E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(0,1,2) × (1,1,1)₁₂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E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2403,5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A2E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SARIMAX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E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ídem + exógenas HDD18, CDD22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E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(0,1,2) × (1,1,1)₁₂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E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2345,9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A2E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E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tendencia {none, add, damped} × estacional {add, mul}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E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estacional aditivo, sin tendencia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E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2890,8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A2E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Prophet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E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E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estacionalidad anual, resto estándar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E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A2E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Prophet + exog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E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E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ídem + regresores HDD18, CDD22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E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7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49377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= D = 1 se fijan con ADF/KPSS antes del grid (anexo de estacionariedad). </a:t>
            </a:r>
            <a:pPr indent="0" marL="0">
              <a:buNone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búsqueda se hace una sola vez sobre el train pre-hold-out (2015–2023) y la configuración se congela para folds y hold-out, evitando fuga de información entre particiones.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058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110916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C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Hold-out 2024–2025: métricas completas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591495" y="347472"/>
            <a:ext cx="1051560" cy="384048"/>
          </a:xfrm>
          <a:prstGeom prst="roundRect">
            <a:avLst>
              <a:gd name="adj" fmla="val 19048"/>
            </a:avLst>
          </a:prstGeom>
          <a:solidFill>
            <a:srgbClr val="0C2B45"/>
          </a:solidFill>
          <a:ln/>
        </p:spPr>
      </p:sp>
      <p:sp>
        <p:nvSpPr>
          <p:cNvPr id="5" name="Text 3"/>
          <p:cNvSpPr/>
          <p:nvPr/>
        </p:nvSpPr>
        <p:spPr>
          <a:xfrm>
            <a:off x="10591495" y="347472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ANEXO</a:t>
            </a:r>
            <a:endParaRPr lang="en-US" sz="11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11091672" cy="914400"/>
        </p:xfrm>
        <a:graphic>
          <a:graphicData uri="http://schemas.openxmlformats.org/drawingml/2006/table">
            <a:tbl>
              <a:tblPr/>
              <a:tblGrid>
                <a:gridCol w="2404872"/>
                <a:gridCol w="1737360"/>
                <a:gridCol w="1737360"/>
                <a:gridCol w="1737360"/>
                <a:gridCol w="1737360"/>
                <a:gridCol w="173736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B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MAPE global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B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MAPE 2024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B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MAPE 2025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B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 anual 2024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B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 anual 2025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B4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C2B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SARIMAX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C2B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1,96 %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C2B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1,11 %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C2B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2,80 %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C2B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+0,47 %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C2B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+2,03 %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E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E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2,33 %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E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1,64 %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E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3,02 %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E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−0,31 %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E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−3,07 %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E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Prophet + exog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E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3,65 %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E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2,68 %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E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4,62 %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E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−2,67 %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E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−4,68 %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E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Prophet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E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4,67 %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E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2,72 %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E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6,63 %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E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−2,50 %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E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−6,71 %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E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SARIMA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E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5,43 %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E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4,33 %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E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6,52 %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E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+4,30 %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E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+6,39 %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46634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Demanda anual real: 249,00 TWh (2024) · 256,09 TWh (2025). SARIMAX predice 250,18 y 261,29 TWh. Todos los modelos reentrenados con el train pre-hold-out completo (2015–2023); temperatura observada como exógena (ex-post).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548640" y="55321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es más difícil para todos (MAPE sube ~1–4 pp respecto a 2024): verano extremo (CDD récord) y mayor horizonte desde el fin del train.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058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110916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C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Estacionariedad y correlogramas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591495" y="347472"/>
            <a:ext cx="1051560" cy="384048"/>
          </a:xfrm>
          <a:prstGeom prst="roundRect">
            <a:avLst>
              <a:gd name="adj" fmla="val 19048"/>
            </a:avLst>
          </a:prstGeom>
          <a:solidFill>
            <a:srgbClr val="0C2B45"/>
          </a:solidFill>
          <a:ln/>
        </p:spPr>
      </p:sp>
      <p:sp>
        <p:nvSpPr>
          <p:cNvPr id="5" name="Text 3"/>
          <p:cNvSpPr/>
          <p:nvPr/>
        </p:nvSpPr>
        <p:spPr>
          <a:xfrm>
            <a:off x="10591495" y="347472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ANEXO</a:t>
            </a:r>
            <a:endParaRPr lang="en-US" sz="11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43000"/>
          <a:ext cx="11091672" cy="914400"/>
        </p:xfrm>
        <a:graphic>
          <a:graphicData uri="http://schemas.openxmlformats.org/drawingml/2006/table">
            <a:tbl>
              <a:tblPr/>
              <a:tblGrid>
                <a:gridCol w="2770632"/>
                <a:gridCol w="3017520"/>
                <a:gridCol w="3017520"/>
                <a:gridCol w="2286000"/>
              </a:tblGrid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Transformación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B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ADF (H₀: raíz unitaria)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B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KPSS (H₀: estacionaria)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B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Conclusión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B45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2E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Serie original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E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 = 0,658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E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 = 0,010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E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estacionaria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2E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 = 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E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 &lt; 0,001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E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 = 0,100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E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estacionaria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2E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 = 1 (estacional)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E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 = 0,449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E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 = 0,100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E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estacionaria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A2E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 = 1 + D = 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A2E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 &lt; 0,001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A2E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 = 0,100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A2E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estacionaria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7"/>
                    </a:solidFill>
                  </a:tcPr>
                </a:tc>
              </a:tr>
            </a:tbl>
          </a:graphicData>
        </a:graphic>
      </p:graphicFrame>
      <p:pic>
        <p:nvPicPr>
          <p:cNvPr id="7" name="Image 0" descr="/tmp/claude-0/-home-user--tfm-redata-demanda/dc45b0d4-dbf9-5520-9013-ffe7b0ea8828/scratchpad/figs/01_fig04_cell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3657600"/>
            <a:ext cx="10607040" cy="256946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77240" y="626364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ACF/PACF tras d=1, D=1: pico negativo en lag 12 → componente MA estacional; caída rápida del resto, coherente con el orden elegido por AIC.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058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110916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C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Ljung-Box: resultados completos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591495" y="347472"/>
            <a:ext cx="1051560" cy="384048"/>
          </a:xfrm>
          <a:prstGeom prst="roundRect">
            <a:avLst>
              <a:gd name="adj" fmla="val 19048"/>
            </a:avLst>
          </a:prstGeom>
          <a:solidFill>
            <a:srgbClr val="0C2B45"/>
          </a:solidFill>
          <a:ln/>
        </p:spPr>
      </p:sp>
      <p:sp>
        <p:nvSpPr>
          <p:cNvPr id="5" name="Text 3"/>
          <p:cNvSpPr/>
          <p:nvPr/>
        </p:nvSpPr>
        <p:spPr>
          <a:xfrm>
            <a:off x="10591495" y="347472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ANEXO</a:t>
            </a:r>
            <a:endParaRPr lang="en-US" sz="11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43000"/>
          <a:ext cx="11091672" cy="914400"/>
        </p:xfrm>
        <a:graphic>
          <a:graphicData uri="http://schemas.openxmlformats.org/drawingml/2006/table">
            <a:tbl>
              <a:tblPr/>
              <a:tblGrid>
                <a:gridCol w="3685032"/>
                <a:gridCol w="2651760"/>
                <a:gridCol w="2377440"/>
                <a:gridCol w="237744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Configuración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B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lag 12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B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lag 24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B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lag 36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B4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2E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SARIMA · train completo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B8770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0,0030 *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E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0,1404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E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0,5085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2E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SARIMAX · train completo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B8770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0,0029 *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E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0,1563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E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0,6560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2E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SARIMA / SARIMAX · fold 2019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E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0,0522 / 0,0672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E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0,5847 / 0,6603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E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0,9373 / 0,9758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2E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SARIMA / SARIMAX · fold 2020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B8770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0,0309 / 0,0331 *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E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0,4741 / 0,5072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E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0,8882 / 0,9395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2E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SARIMA / SARIMAX · fold 2021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B8770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0,0166 / 0,0191 *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E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0,3486 / 0,4016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E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0,7763 / 0,8906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2E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SARIMA / SARIMAX · fold 2022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B8770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0,0078 / 0,0090 *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E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0,2426 / 0,2839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E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0,6553 / 0,8093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7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470916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77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p &lt; 0,05 (rechazo de H₀ al 5 %).  </a:t>
            </a:r>
            <a:pPr indent="0" marL="0">
              <a:buNone/>
            </a:pPr>
            <a:r>
              <a:rPr lang="en-US" sz="12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Residuos = errores one-step-ahead del filtro de Kalman (model.resid), la magnitud correcta para diagnosticar dinámica lineal no capturada. Lags 12/24/36 cubren 1–3 ciclos anuales. Los folds CV descartan que el patrón sea un artefacto del periodo de entrenamiento.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48640" y="576072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 residual SARIMAX (train completo): 2 544 190 MWh = 11,78 % de la demanda media mensual (21,6 M MWh). Residuos exportados en reports/residuos_sarimax.csv.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2026-07-17T19:48:37Z</dcterms:created>
  <dcterms:modified xsi:type="dcterms:W3CDTF">2026-07-17T19:48:37Z</dcterms:modified>
</cp:coreProperties>
</file>